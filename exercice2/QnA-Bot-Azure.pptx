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27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9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7476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6FC4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/sessions/sharp-confident-hamilton/mnt/Agentic AI Academy – Junio 2026/Tala_DataRoot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"/>
            <a:ext cx="3291840" cy="18516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25146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QnA Bot on Azure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713232" y="35204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Rebuilding the Dataroots question-answering bot, this time 100% on Azure and inside the EU.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13232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Academy</a:t>
            </a:r>
            <a:r>
              <a:rPr lang="en-US" sz="14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Exercise 2 · Foundations Recap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3232" y="5486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 Alba  ·  Head of AI Adoption, Talan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784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bot as this morning, rebuilt from scratch on Azure.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answers questions about Dataroots using </a:t>
            </a: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an approved knowledge base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When the answer is not there, it returns a fixed sentence instead of guessing.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0A1B2E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40080" y="33101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8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HTTP contract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/?query=...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{"answer": "..."}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0" y="1691640"/>
            <a:ext cx="576072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943600" y="1691640"/>
            <a:ext cx="109728" cy="1417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355080" y="183794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inside Azure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55080" y="2258568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outside calls to OpenAI, Gemini or Anthropic. The LLM lives inside Azure.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3273552"/>
            <a:ext cx="576072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5943600" y="3273552"/>
            <a:ext cx="109728" cy="14173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355080" y="341985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the EU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55080" y="384048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resource in West Europe. Nothing leaves Europe.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0" y="4855464"/>
            <a:ext cx="576072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5943600" y="4855464"/>
            <a:ext cx="109728" cy="1417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355080" y="50017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to AWS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55080" y="5422392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as a container so it moves to AWS without a rewrite.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QnA Bot on Azure  ·  Agentic AI Academy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containerized app that reads knowledge, calls AI, and stays 100% within Azure.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874520" y="914400"/>
            <a:ext cx="6537960" cy="4846320"/>
          </a:xfrm>
          <a:prstGeom prst="roundRect">
            <a:avLst>
              <a:gd name="adj" fmla="val 1132"/>
            </a:avLst>
          </a:prstGeom>
          <a:solidFill>
            <a:srgbClr val="FAFCFF"/>
          </a:solidFill>
          <a:ln w="19050">
            <a:solidFill>
              <a:srgbClr val="BFD3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icons/azure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0058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05456" y="102412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(Region: West Europe)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0040" y="2697480"/>
            <a:ext cx="1417320" cy="1600200"/>
          </a:xfrm>
          <a:prstGeom prst="roundRect">
            <a:avLst>
              <a:gd name="adj" fmla="val 4516"/>
            </a:avLst>
          </a:prstGeom>
          <a:solidFill>
            <a:srgbClr val="E7F6EC"/>
          </a:solidFill>
          <a:ln w="19050">
            <a:solidFill>
              <a:srgbClr val="16A34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8" name="Image 1" descr="icons/users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2889504"/>
            <a:ext cx="493776" cy="4937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" y="3474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532D"/>
                </a:solidFill>
              </a:rPr>
              <a:t>USER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365760" y="3749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Browser or any client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331720" y="2286000"/>
            <a:ext cx="2423160" cy="2377440"/>
          </a:xfrm>
          <a:prstGeom prst="roundRect">
            <a:avLst>
              <a:gd name="adj" fmla="val 2692"/>
            </a:avLst>
          </a:prstGeom>
          <a:solidFill>
            <a:srgbClr val="EAF1FE"/>
          </a:solidFill>
          <a:ln w="1905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2" name="Image 2" descr="icons/containers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8024" y="2414016"/>
            <a:ext cx="420624" cy="420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008376" y="2404872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 Apps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2487168" y="28529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your app (FastAPI) in a Docker container.</a:t>
            </a:r>
            <a:endParaRPr lang="en-US" sz="950" dirty="0"/>
          </a:p>
        </p:txBody>
      </p:sp>
      <p:pic>
        <p:nvPicPr>
          <p:cNvPr id="15" name="Image 3" descr="icons/bolt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7168" y="3493008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743200" y="34655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app</a:t>
            </a:r>
            <a:endParaRPr lang="en-US" sz="1000" dirty="0"/>
          </a:p>
        </p:txBody>
      </p:sp>
      <p:pic>
        <p:nvPicPr>
          <p:cNvPr id="17" name="Image 4" descr="icons/code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87168" y="3776472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743200" y="3749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→ JSON</a:t>
            </a:r>
            <a:endParaRPr lang="en-US" sz="1000" dirty="0"/>
          </a:p>
        </p:txBody>
      </p:sp>
      <p:pic>
        <p:nvPicPr>
          <p:cNvPr id="19" name="Image 5" descr="icons/doc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7168" y="4059936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2743200" y="40325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endParaRPr lang="en-US" sz="1000" dirty="0"/>
          </a:p>
        </p:txBody>
      </p:sp>
      <p:pic>
        <p:nvPicPr>
          <p:cNvPr id="21" name="Image 6" descr="icons/cube_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87168" y="4343400"/>
            <a:ext cx="201168" cy="20116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2743200" y="43159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</a:t>
            </a:r>
            <a:endParaRPr lang="en-US" sz="1000" dirty="0"/>
          </a:p>
        </p:txBody>
      </p:sp>
      <p:sp>
        <p:nvSpPr>
          <p:cNvPr id="23" name="Shape 14"/>
          <p:cNvSpPr/>
          <p:nvPr/>
        </p:nvSpPr>
        <p:spPr>
          <a:xfrm>
            <a:off x="4983480" y="1371600"/>
            <a:ext cx="3154680" cy="1280160"/>
          </a:xfrm>
          <a:prstGeom prst="roundRect">
            <a:avLst>
              <a:gd name="adj" fmla="val 5000"/>
            </a:avLst>
          </a:prstGeom>
          <a:solidFill>
            <a:srgbClr val="E7F6EC"/>
          </a:solidFill>
          <a:ln w="19050">
            <a:solidFill>
              <a:srgbClr val="16A34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4" name="Image 7" descr="icons/folder_gre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9784" y="1499616"/>
            <a:ext cx="365760" cy="36576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605272" y="14904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</a:t>
            </a:r>
            <a:endParaRPr lang="en-US" sz="1150" dirty="0"/>
          </a:p>
        </p:txBody>
      </p:sp>
      <p:sp>
        <p:nvSpPr>
          <p:cNvPr id="26" name="Text 16"/>
          <p:cNvSpPr/>
          <p:nvPr/>
        </p:nvSpPr>
        <p:spPr>
          <a:xfrm>
            <a:off x="5148072" y="2002536"/>
            <a:ext cx="2843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.md files (our knowledge base).</a:t>
            </a:r>
            <a:endParaRPr lang="en-US" sz="950" dirty="0"/>
          </a:p>
        </p:txBody>
      </p:sp>
      <p:sp>
        <p:nvSpPr>
          <p:cNvPr id="27" name="Shape 17"/>
          <p:cNvSpPr/>
          <p:nvPr/>
        </p:nvSpPr>
        <p:spPr>
          <a:xfrm>
            <a:off x="4983480" y="3017520"/>
            <a:ext cx="3154680" cy="1417320"/>
          </a:xfrm>
          <a:prstGeom prst="roundRect">
            <a:avLst>
              <a:gd name="adj" fmla="val 4516"/>
            </a:avLst>
          </a:prstGeom>
          <a:solidFill>
            <a:srgbClr val="F1ECFD"/>
          </a:solidFill>
          <a:ln w="1905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8" name="Image 8" descr="icons/spark_purp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29784" y="3145536"/>
            <a:ext cx="365760" cy="36576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605272" y="31363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150" dirty="0"/>
          </a:p>
        </p:txBody>
      </p:sp>
      <p:sp>
        <p:nvSpPr>
          <p:cNvPr id="30" name="Text 19"/>
          <p:cNvSpPr/>
          <p:nvPr/>
        </p:nvSpPr>
        <p:spPr>
          <a:xfrm>
            <a:off x="5148072" y="3648456"/>
            <a:ext cx="28437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LLM (gpt-4.1-mini).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private, stays in Azure.</a:t>
            </a:r>
            <a:endParaRPr lang="en-US" sz="950" dirty="0"/>
          </a:p>
        </p:txBody>
      </p:sp>
      <p:sp>
        <p:nvSpPr>
          <p:cNvPr id="31" name="Shape 20"/>
          <p:cNvSpPr/>
          <p:nvPr/>
        </p:nvSpPr>
        <p:spPr>
          <a:xfrm>
            <a:off x="2331720" y="4892040"/>
            <a:ext cx="2468880" cy="749808"/>
          </a:xfrm>
          <a:prstGeom prst="roundRect">
            <a:avLst>
              <a:gd name="adj" fmla="val 8537"/>
            </a:avLst>
          </a:prstGeom>
          <a:solidFill>
            <a:srgbClr val="FDEBE0"/>
          </a:solidFill>
          <a:ln w="1905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2" name="Image 9" descr="icons/registry_oran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78024" y="5020056"/>
            <a:ext cx="365760" cy="36576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2953512" y="50109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Registry</a:t>
            </a:r>
            <a:endParaRPr lang="en-US" sz="1150" dirty="0"/>
          </a:p>
        </p:txBody>
      </p:sp>
      <p:sp>
        <p:nvSpPr>
          <p:cNvPr id="34" name="Text 22"/>
          <p:cNvSpPr/>
          <p:nvPr/>
        </p:nvSpPr>
        <p:spPr>
          <a:xfrm>
            <a:off x="2907792" y="52303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Private store of Docker images.</a:t>
            </a:r>
            <a:endParaRPr lang="en-US" sz="850" dirty="0"/>
          </a:p>
        </p:txBody>
      </p:sp>
      <p:sp>
        <p:nvSpPr>
          <p:cNvPr id="35" name="Shape 23"/>
          <p:cNvSpPr/>
          <p:nvPr/>
        </p:nvSpPr>
        <p:spPr>
          <a:xfrm>
            <a:off x="5440680" y="4892040"/>
            <a:ext cx="2697480" cy="749808"/>
          </a:xfrm>
          <a:prstGeom prst="roundRect">
            <a:avLst>
              <a:gd name="adj" fmla="val 8537"/>
            </a:avLst>
          </a:prstGeom>
          <a:solidFill>
            <a:srgbClr val="FCF1DD"/>
          </a:solidFill>
          <a:ln w="1905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6" name="Image 10" descr="icons/user_ambe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86984" y="5020056"/>
            <a:ext cx="365760" cy="36576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6062472" y="501091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50" dirty="0"/>
          </a:p>
        </p:txBody>
      </p:sp>
      <p:sp>
        <p:nvSpPr>
          <p:cNvPr id="38" name="Text 25"/>
          <p:cNvSpPr/>
          <p:nvPr/>
        </p:nvSpPr>
        <p:spPr>
          <a:xfrm>
            <a:off x="5989320" y="52303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Builds and pushes new images.</a:t>
            </a:r>
            <a:endParaRPr lang="en-US" sz="850" dirty="0"/>
          </a:p>
        </p:txBody>
      </p:sp>
      <p:sp>
        <p:nvSpPr>
          <p:cNvPr id="39" name="Shape 26"/>
          <p:cNvSpPr/>
          <p:nvPr/>
        </p:nvSpPr>
        <p:spPr>
          <a:xfrm>
            <a:off x="1737360" y="3063240"/>
            <a:ext cx="594360" cy="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40" name="Shape 27"/>
          <p:cNvSpPr/>
          <p:nvPr/>
        </p:nvSpPr>
        <p:spPr>
          <a:xfrm>
            <a:off x="1856232" y="2651760"/>
            <a:ext cx="310896" cy="310896"/>
          </a:xfrm>
          <a:prstGeom prst="ellipse">
            <a:avLst/>
          </a:prstGeom>
          <a:solidFill>
            <a:srgbClr val="16A34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28"/>
          <p:cNvSpPr/>
          <p:nvPr/>
        </p:nvSpPr>
        <p:spPr>
          <a:xfrm>
            <a:off x="1856232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42" name="Text 29"/>
          <p:cNvSpPr/>
          <p:nvPr/>
        </p:nvSpPr>
        <p:spPr>
          <a:xfrm>
            <a:off x="1371600" y="30906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</a:rPr>
              <a:t>HTTPS</a:t>
            </a:r>
            <a:endParaRPr lang="en-US" sz="950" dirty="0"/>
          </a:p>
        </p:txBody>
      </p:sp>
      <p:sp>
        <p:nvSpPr>
          <p:cNvPr id="43" name="Shape 30"/>
          <p:cNvSpPr/>
          <p:nvPr/>
        </p:nvSpPr>
        <p:spPr>
          <a:xfrm>
            <a:off x="2331720" y="3611880"/>
            <a:ext cx="0" cy="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31"/>
          <p:cNvSpPr/>
          <p:nvPr/>
        </p:nvSpPr>
        <p:spPr>
          <a:xfrm>
            <a:off x="1371600" y="3639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</a:rPr>
              <a:t>JSON</a:t>
            </a:r>
            <a:endParaRPr lang="en-US" sz="950" dirty="0"/>
          </a:p>
        </p:txBody>
      </p:sp>
      <p:sp>
        <p:nvSpPr>
          <p:cNvPr id="45" name="Shape 32"/>
          <p:cNvSpPr/>
          <p:nvPr/>
        </p:nvSpPr>
        <p:spPr>
          <a:xfrm>
            <a:off x="4754880" y="2560320"/>
            <a:ext cx="274320" cy="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46" name="Shape 33"/>
          <p:cNvSpPr/>
          <p:nvPr/>
        </p:nvSpPr>
        <p:spPr>
          <a:xfrm>
            <a:off x="4727448" y="2221992"/>
            <a:ext cx="310896" cy="310896"/>
          </a:xfrm>
          <a:prstGeom prst="ellipse">
            <a:avLst/>
          </a:prstGeom>
          <a:solidFill>
            <a:srgbClr val="16A34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34"/>
          <p:cNvSpPr/>
          <p:nvPr/>
        </p:nvSpPr>
        <p:spPr>
          <a:xfrm>
            <a:off x="4727448" y="2221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48" name="Shape 35"/>
          <p:cNvSpPr/>
          <p:nvPr/>
        </p:nvSpPr>
        <p:spPr>
          <a:xfrm>
            <a:off x="4754880" y="3584448"/>
            <a:ext cx="228600" cy="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49" name="Shape 36"/>
          <p:cNvSpPr/>
          <p:nvPr/>
        </p:nvSpPr>
        <p:spPr>
          <a:xfrm>
            <a:off x="4718304" y="3419856"/>
            <a:ext cx="310896" cy="310896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37"/>
          <p:cNvSpPr/>
          <p:nvPr/>
        </p:nvSpPr>
        <p:spPr>
          <a:xfrm>
            <a:off x="4718304" y="3419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51" name="Shape 38"/>
          <p:cNvSpPr/>
          <p:nvPr/>
        </p:nvSpPr>
        <p:spPr>
          <a:xfrm>
            <a:off x="4983480" y="4114800"/>
            <a:ext cx="0" cy="18288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52" name="Shape 39"/>
          <p:cNvSpPr/>
          <p:nvPr/>
        </p:nvSpPr>
        <p:spPr>
          <a:xfrm>
            <a:off x="4718304" y="3968496"/>
            <a:ext cx="310896" cy="310896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40"/>
          <p:cNvSpPr/>
          <p:nvPr/>
        </p:nvSpPr>
        <p:spPr>
          <a:xfrm>
            <a:off x="4718304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54" name="Shape 41"/>
          <p:cNvSpPr/>
          <p:nvPr/>
        </p:nvSpPr>
        <p:spPr>
          <a:xfrm>
            <a:off x="3566160" y="4892040"/>
            <a:ext cx="0" cy="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55" name="Shape 42"/>
          <p:cNvSpPr/>
          <p:nvPr/>
        </p:nvSpPr>
        <p:spPr>
          <a:xfrm>
            <a:off x="3822192" y="4617720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Text 43"/>
          <p:cNvSpPr/>
          <p:nvPr/>
        </p:nvSpPr>
        <p:spPr>
          <a:xfrm>
            <a:off x="3822192" y="4617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57" name="Text 44"/>
          <p:cNvSpPr/>
          <p:nvPr/>
        </p:nvSpPr>
        <p:spPr>
          <a:xfrm>
            <a:off x="4160520" y="47183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</a:rPr>
              <a:t>pulls image</a:t>
            </a:r>
            <a:endParaRPr lang="en-US" sz="950" dirty="0"/>
          </a:p>
        </p:txBody>
      </p:sp>
      <p:sp>
        <p:nvSpPr>
          <p:cNvPr id="58" name="Shape 45"/>
          <p:cNvSpPr/>
          <p:nvPr/>
        </p:nvSpPr>
        <p:spPr>
          <a:xfrm>
            <a:off x="5440680" y="5266944"/>
            <a:ext cx="0" cy="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59" name="Shape 46"/>
          <p:cNvSpPr/>
          <p:nvPr/>
        </p:nvSpPr>
        <p:spPr>
          <a:xfrm>
            <a:off x="4965192" y="5111496"/>
            <a:ext cx="310896" cy="310896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Text 47"/>
          <p:cNvSpPr/>
          <p:nvPr/>
        </p:nvSpPr>
        <p:spPr>
          <a:xfrm>
            <a:off x="4965192" y="5111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61" name="Text 48"/>
          <p:cNvSpPr/>
          <p:nvPr/>
        </p:nvSpPr>
        <p:spPr>
          <a:xfrm>
            <a:off x="4736592" y="50109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</a:rPr>
              <a:t>docker push</a:t>
            </a:r>
            <a:endParaRPr lang="en-US" sz="950" dirty="0"/>
          </a:p>
        </p:txBody>
      </p:sp>
      <p:sp>
        <p:nvSpPr>
          <p:cNvPr id="62" name="Shape 49"/>
          <p:cNvSpPr/>
          <p:nvPr/>
        </p:nvSpPr>
        <p:spPr>
          <a:xfrm>
            <a:off x="8641080" y="914400"/>
            <a:ext cx="3200400" cy="3456432"/>
          </a:xfrm>
          <a:prstGeom prst="roundRect">
            <a:avLst>
              <a:gd name="adj" fmla="val 2286"/>
            </a:avLst>
          </a:prstGeom>
          <a:solidFill>
            <a:srgbClr val="FBFCFE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3" name="Text 50"/>
          <p:cNvSpPr/>
          <p:nvPr/>
        </p:nvSpPr>
        <p:spPr>
          <a:xfrm>
            <a:off x="8823960" y="10241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what?</a:t>
            </a:r>
            <a:endParaRPr lang="en-US" sz="1400" dirty="0"/>
          </a:p>
        </p:txBody>
      </p:sp>
      <p:pic>
        <p:nvPicPr>
          <p:cNvPr id="64" name="Image 11" descr="icons/containers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5672" y="1463040"/>
            <a:ext cx="274320" cy="274320"/>
          </a:xfrm>
          <a:prstGeom prst="rect">
            <a:avLst/>
          </a:prstGeom>
        </p:spPr>
      </p:pic>
      <p:sp>
        <p:nvSpPr>
          <p:cNvPr id="65" name="Text 51"/>
          <p:cNvSpPr/>
          <p:nvPr/>
        </p:nvSpPr>
        <p:spPr>
          <a:xfrm>
            <a:off x="9171432" y="1426464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 Apps
</a:t>
            </a:r>
            <a:endParaRPr lang="en-US" sz="10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your app and exposes it to the Internet.</a:t>
            </a:r>
            <a:endParaRPr lang="en-US" sz="1050" dirty="0"/>
          </a:p>
        </p:txBody>
      </p:sp>
      <p:pic>
        <p:nvPicPr>
          <p:cNvPr id="66" name="Image 12" descr="icons/folder_gre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05672" y="2039112"/>
            <a:ext cx="274320" cy="274320"/>
          </a:xfrm>
          <a:prstGeom prst="rect">
            <a:avLst/>
          </a:prstGeom>
        </p:spPr>
      </p:pic>
      <p:sp>
        <p:nvSpPr>
          <p:cNvPr id="67" name="Text 52"/>
          <p:cNvSpPr/>
          <p:nvPr/>
        </p:nvSpPr>
        <p:spPr>
          <a:xfrm>
            <a:off x="9171432" y="2002536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
</a:t>
            </a:r>
            <a:endParaRPr lang="en-US" sz="10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storage. Holds our Markdown (.md) docs.</a:t>
            </a:r>
            <a:endParaRPr lang="en-US" sz="1050" dirty="0"/>
          </a:p>
        </p:txBody>
      </p:sp>
      <p:pic>
        <p:nvPicPr>
          <p:cNvPr id="68" name="Image 13" descr="icons/spark_purp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05672" y="2615184"/>
            <a:ext cx="274320" cy="274320"/>
          </a:xfrm>
          <a:prstGeom prst="rect">
            <a:avLst/>
          </a:prstGeom>
        </p:spPr>
      </p:pic>
      <p:sp>
        <p:nvSpPr>
          <p:cNvPr id="69" name="Text 53"/>
          <p:cNvSpPr/>
          <p:nvPr/>
        </p:nvSpPr>
        <p:spPr>
          <a:xfrm>
            <a:off x="9171432" y="2578608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
</a:t>
            </a:r>
            <a:endParaRPr lang="en-US" sz="10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(gpt-4.1-mini) hosted in Azure.</a:t>
            </a:r>
            <a:endParaRPr lang="en-US" sz="1050" dirty="0"/>
          </a:p>
        </p:txBody>
      </p:sp>
      <p:pic>
        <p:nvPicPr>
          <p:cNvPr id="70" name="Image 14" descr="icons/registry_oran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05672" y="3191256"/>
            <a:ext cx="274320" cy="274320"/>
          </a:xfrm>
          <a:prstGeom prst="rect">
            <a:avLst/>
          </a:prstGeom>
        </p:spPr>
      </p:pic>
      <p:sp>
        <p:nvSpPr>
          <p:cNvPr id="71" name="Text 54"/>
          <p:cNvSpPr/>
          <p:nvPr/>
        </p:nvSpPr>
        <p:spPr>
          <a:xfrm>
            <a:off x="9171432" y="3154680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Registry
</a:t>
            </a:r>
            <a:endParaRPr lang="en-US" sz="10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warehouse for Docker images.</a:t>
            </a:r>
            <a:endParaRPr lang="en-US" sz="1050" dirty="0"/>
          </a:p>
        </p:txBody>
      </p:sp>
      <p:pic>
        <p:nvPicPr>
          <p:cNvPr id="72" name="Image 15" descr="icons/user_ambe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05672" y="3767328"/>
            <a:ext cx="274320" cy="274320"/>
          </a:xfrm>
          <a:prstGeom prst="rect">
            <a:avLst/>
          </a:prstGeom>
        </p:spPr>
      </p:pic>
      <p:sp>
        <p:nvSpPr>
          <p:cNvPr id="73" name="Text 55"/>
          <p:cNvSpPr/>
          <p:nvPr/>
        </p:nvSpPr>
        <p:spPr>
          <a:xfrm>
            <a:off x="9171432" y="3730752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
</a:t>
            </a:r>
            <a:endParaRPr lang="en-US" sz="10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image and publishes it.</a:t>
            </a:r>
            <a:endParaRPr lang="en-US" sz="1050" dirty="0"/>
          </a:p>
        </p:txBody>
      </p:sp>
      <p:sp>
        <p:nvSpPr>
          <p:cNvPr id="74" name="Shape 56"/>
          <p:cNvSpPr/>
          <p:nvPr/>
        </p:nvSpPr>
        <p:spPr>
          <a:xfrm>
            <a:off x="8641080" y="4526280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FBFCFE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5" name="Text 57"/>
          <p:cNvSpPr/>
          <p:nvPr/>
        </p:nvSpPr>
        <p:spPr>
          <a:xfrm>
            <a:off x="8823960" y="46360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flow?</a:t>
            </a:r>
            <a:endParaRPr lang="en-US" sz="1400" dirty="0"/>
          </a:p>
        </p:txBody>
      </p:sp>
      <p:sp>
        <p:nvSpPr>
          <p:cNvPr id="76" name="Shape 58"/>
          <p:cNvSpPr/>
          <p:nvPr/>
        </p:nvSpPr>
        <p:spPr>
          <a:xfrm>
            <a:off x="8778240" y="4983480"/>
            <a:ext cx="310896" cy="310896"/>
          </a:xfrm>
          <a:prstGeom prst="ellipse">
            <a:avLst/>
          </a:prstGeom>
          <a:solidFill>
            <a:srgbClr val="16A34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7" name="Text 59"/>
          <p:cNvSpPr/>
          <p:nvPr/>
        </p:nvSpPr>
        <p:spPr>
          <a:xfrm>
            <a:off x="8778240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8" name="Text 60"/>
          <p:cNvSpPr/>
          <p:nvPr/>
        </p:nvSpPr>
        <p:spPr>
          <a:xfrm>
            <a:off x="9153144" y="49926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makes a request to the app.</a:t>
            </a:r>
            <a:endParaRPr lang="en-US" sz="930" dirty="0"/>
          </a:p>
        </p:txBody>
      </p:sp>
      <p:sp>
        <p:nvSpPr>
          <p:cNvPr id="79" name="Shape 61"/>
          <p:cNvSpPr/>
          <p:nvPr/>
        </p:nvSpPr>
        <p:spPr>
          <a:xfrm>
            <a:off x="8778240" y="5244084"/>
            <a:ext cx="310896" cy="310896"/>
          </a:xfrm>
          <a:prstGeom prst="ellipse">
            <a:avLst/>
          </a:prstGeom>
          <a:solidFill>
            <a:srgbClr val="16A34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0" name="Text 62"/>
          <p:cNvSpPr/>
          <p:nvPr/>
        </p:nvSpPr>
        <p:spPr>
          <a:xfrm>
            <a:off x="8778240" y="52440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81" name="Text 63"/>
          <p:cNvSpPr/>
          <p:nvPr/>
        </p:nvSpPr>
        <p:spPr>
          <a:xfrm>
            <a:off x="9153144" y="52532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reads .md files from Blob Storage.</a:t>
            </a:r>
            <a:endParaRPr lang="en-US" sz="930" dirty="0"/>
          </a:p>
        </p:txBody>
      </p:sp>
      <p:sp>
        <p:nvSpPr>
          <p:cNvPr id="82" name="Shape 64"/>
          <p:cNvSpPr/>
          <p:nvPr/>
        </p:nvSpPr>
        <p:spPr>
          <a:xfrm>
            <a:off x="8778240" y="5504688"/>
            <a:ext cx="310896" cy="310896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3" name="Text 65"/>
          <p:cNvSpPr/>
          <p:nvPr/>
        </p:nvSpPr>
        <p:spPr>
          <a:xfrm>
            <a:off x="8778240" y="5504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84" name="Text 66"/>
          <p:cNvSpPr/>
          <p:nvPr/>
        </p:nvSpPr>
        <p:spPr>
          <a:xfrm>
            <a:off x="9153144" y="5513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sends the prompt to Azure OpenAI.</a:t>
            </a:r>
            <a:endParaRPr lang="en-US" sz="930" dirty="0"/>
          </a:p>
        </p:txBody>
      </p:sp>
      <p:sp>
        <p:nvSpPr>
          <p:cNvPr id="85" name="Shape 67"/>
          <p:cNvSpPr/>
          <p:nvPr/>
        </p:nvSpPr>
        <p:spPr>
          <a:xfrm>
            <a:off x="8778240" y="5765292"/>
            <a:ext cx="310896" cy="310896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6" name="Text 68"/>
          <p:cNvSpPr/>
          <p:nvPr/>
        </p:nvSpPr>
        <p:spPr>
          <a:xfrm>
            <a:off x="8778240" y="57652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87" name="Text 69"/>
          <p:cNvSpPr/>
          <p:nvPr/>
        </p:nvSpPr>
        <p:spPr>
          <a:xfrm>
            <a:off x="9153144" y="57744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returns the response.</a:t>
            </a:r>
            <a:endParaRPr lang="en-US" sz="930" dirty="0"/>
          </a:p>
        </p:txBody>
      </p:sp>
      <p:sp>
        <p:nvSpPr>
          <p:cNvPr id="88" name="Shape 70"/>
          <p:cNvSpPr/>
          <p:nvPr/>
        </p:nvSpPr>
        <p:spPr>
          <a:xfrm>
            <a:off x="8778240" y="6025896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9" name="Text 71"/>
          <p:cNvSpPr/>
          <p:nvPr/>
        </p:nvSpPr>
        <p:spPr>
          <a:xfrm>
            <a:off x="8778240" y="6025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90" name="Text 72"/>
          <p:cNvSpPr/>
          <p:nvPr/>
        </p:nvSpPr>
        <p:spPr>
          <a:xfrm>
            <a:off x="9153144" y="6035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Apps pulls the image from the Registry.</a:t>
            </a:r>
            <a:endParaRPr lang="en-US" sz="930" dirty="0"/>
          </a:p>
        </p:txBody>
      </p:sp>
      <p:sp>
        <p:nvSpPr>
          <p:cNvPr id="91" name="Shape 73"/>
          <p:cNvSpPr/>
          <p:nvPr/>
        </p:nvSpPr>
        <p:spPr>
          <a:xfrm>
            <a:off x="8778240" y="6286500"/>
            <a:ext cx="310896" cy="310896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2" name="Text 74"/>
          <p:cNvSpPr/>
          <p:nvPr/>
        </p:nvSpPr>
        <p:spPr>
          <a:xfrm>
            <a:off x="8778240" y="62865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93" name="Text 75"/>
          <p:cNvSpPr/>
          <p:nvPr/>
        </p:nvSpPr>
        <p:spPr>
          <a:xfrm>
            <a:off x="9153144" y="62956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 publishes new versions (docker push).</a:t>
            </a:r>
            <a:endParaRPr lang="en-US" sz="930" dirty="0"/>
          </a:p>
        </p:txBody>
      </p:sp>
      <p:sp>
        <p:nvSpPr>
          <p:cNvPr id="94" name="Shape 76"/>
          <p:cNvSpPr/>
          <p:nvPr/>
        </p:nvSpPr>
        <p:spPr>
          <a:xfrm>
            <a:off x="320040" y="5943600"/>
            <a:ext cx="8092440" cy="566928"/>
          </a:xfrm>
          <a:prstGeom prst="roundRect">
            <a:avLst>
              <a:gd name="adj" fmla="val 11290"/>
            </a:avLst>
          </a:prstGeom>
          <a:solidFill>
            <a:srgbClr val="0A1B2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95" name="Image 16" descr="icons/shield_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2920" y="6035040"/>
            <a:ext cx="384048" cy="384048"/>
          </a:xfrm>
          <a:prstGeom prst="rect">
            <a:avLst/>
          </a:prstGeom>
        </p:spPr>
      </p:pic>
      <p:sp>
        <p:nvSpPr>
          <p:cNvPr id="96" name="Text 77"/>
          <p:cNvSpPr/>
          <p:nvPr/>
        </p:nvSpPr>
        <p:spPr>
          <a:xfrm>
            <a:off x="1005840" y="6035040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stays in Azure.  </a:t>
            </a:r>
            <a:r>
              <a:rPr lang="en-US" sz="11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models, and execution, all inside the West Europe region.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keep it from hallucinating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784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answers only from the KB; our code writes the fallback sentence.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2331720" cy="1143000"/>
          </a:xfrm>
          <a:prstGeom prst="roundRect">
            <a:avLst>
              <a:gd name="adj" fmla="val 5600"/>
            </a:avLst>
          </a:prstGeom>
          <a:solidFill>
            <a:srgbClr val="EAF1FE"/>
          </a:solidFill>
          <a:ln w="1905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5" name="Image 0" descr="icons/code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002536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199339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21792" y="2505456"/>
            <a:ext cx="20208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query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00400" y="1874520"/>
            <a:ext cx="2651760" cy="1143000"/>
          </a:xfrm>
          <a:prstGeom prst="roundRect">
            <a:avLst>
              <a:gd name="adj" fmla="val 5600"/>
            </a:avLst>
          </a:prstGeom>
          <a:solidFill>
            <a:srgbClr val="E7F6EC"/>
          </a:solidFill>
          <a:ln w="19050">
            <a:solidFill>
              <a:srgbClr val="16A34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9" name="Image 1" descr="icons/funnel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2002536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22192" y="19933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prompt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364992" y="2505456"/>
            <a:ext cx="23408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+ KB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263640" y="1874520"/>
            <a:ext cx="2148840" cy="1143000"/>
          </a:xfrm>
          <a:prstGeom prst="roundRect">
            <a:avLst>
              <a:gd name="adj" fmla="val 5600"/>
            </a:avLst>
          </a:prstGeom>
          <a:solidFill>
            <a:srgbClr val="F1ECFD"/>
          </a:solidFill>
          <a:ln w="1905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3" name="Image 2" descr="icons/chip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44" y="2002536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85432" y="199339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6428232" y="2505456"/>
            <a:ext cx="18379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gpt-4.1-mini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2788920" y="2441448"/>
            <a:ext cx="411480" cy="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2"/>
          <p:cNvSpPr/>
          <p:nvPr/>
        </p:nvSpPr>
        <p:spPr>
          <a:xfrm>
            <a:off x="2834640" y="2286000"/>
            <a:ext cx="310896" cy="310896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3"/>
          <p:cNvSpPr/>
          <p:nvPr/>
        </p:nvSpPr>
        <p:spPr>
          <a:xfrm>
            <a:off x="283464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852160" y="2441448"/>
            <a:ext cx="411480" cy="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5"/>
          <p:cNvSpPr/>
          <p:nvPr/>
        </p:nvSpPr>
        <p:spPr>
          <a:xfrm>
            <a:off x="5897880" y="2286000"/>
            <a:ext cx="310896" cy="310896"/>
          </a:xfrm>
          <a:prstGeom prst="ellipse">
            <a:avLst/>
          </a:prstGeom>
          <a:solidFill>
            <a:srgbClr val="16A34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6"/>
          <p:cNvSpPr/>
          <p:nvPr/>
        </p:nvSpPr>
        <p:spPr>
          <a:xfrm>
            <a:off x="589788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144000" y="1234440"/>
            <a:ext cx="2606040" cy="1097280"/>
          </a:xfrm>
          <a:prstGeom prst="roundRect">
            <a:avLst>
              <a:gd name="adj" fmla="val 5833"/>
            </a:avLst>
          </a:prstGeom>
          <a:solidFill>
            <a:srgbClr val="E7F6EC"/>
          </a:solidFill>
          <a:ln w="19050">
            <a:solidFill>
              <a:srgbClr val="16A34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3" name="Image 3" descr="icons/check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0304" y="1362456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765792" y="135331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KB? Yes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9308592" y="1865376"/>
            <a:ext cx="2295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Answer, citing the KB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9144000" y="2788920"/>
            <a:ext cx="2606040" cy="1188720"/>
          </a:xfrm>
          <a:prstGeom prst="roundRect">
            <a:avLst>
              <a:gd name="adj" fmla="val 5385"/>
            </a:avLst>
          </a:prstGeom>
          <a:solidFill>
            <a:srgbClr val="FDEBE0"/>
          </a:solidFill>
          <a:ln w="1905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7" name="Image 4" descr="icons/ban_or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0304" y="2916936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765792" y="290779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KB? No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9308592" y="3419856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the NO_ANSWER token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8412480" y="2286000"/>
            <a:ext cx="731520" cy="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4"/>
          <p:cNvSpPr/>
          <p:nvPr/>
        </p:nvSpPr>
        <p:spPr>
          <a:xfrm>
            <a:off x="8577072" y="1837944"/>
            <a:ext cx="310896" cy="310896"/>
          </a:xfrm>
          <a:prstGeom prst="ellipse">
            <a:avLst/>
          </a:prstGeom>
          <a:solidFill>
            <a:srgbClr val="16A34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25"/>
          <p:cNvSpPr/>
          <p:nvPr/>
        </p:nvSpPr>
        <p:spPr>
          <a:xfrm>
            <a:off x="8577072" y="1837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8412480" y="2606040"/>
            <a:ext cx="731520" cy="73152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27"/>
          <p:cNvSpPr/>
          <p:nvPr/>
        </p:nvSpPr>
        <p:spPr>
          <a:xfrm>
            <a:off x="8577072" y="2770632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28"/>
          <p:cNvSpPr/>
          <p:nvPr/>
        </p:nvSpPr>
        <p:spPr>
          <a:xfrm>
            <a:off x="8577072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9144000" y="443484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EAF1FE"/>
          </a:solidFill>
          <a:ln w="1905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7" name="Image 5" descr="icons/code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4" y="4562856"/>
            <a:ext cx="365760" cy="3657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765792" y="455371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code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9308592" y="5065776"/>
            <a:ext cx="22951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Substitutes the exact sentence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10442448" y="3977640"/>
            <a:ext cx="0" cy="45720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41" name="Shape 33"/>
          <p:cNvSpPr/>
          <p:nvPr/>
        </p:nvSpPr>
        <p:spPr>
          <a:xfrm>
            <a:off x="457200" y="4297680"/>
            <a:ext cx="8138160" cy="1645920"/>
          </a:xfrm>
          <a:prstGeom prst="roundRect">
            <a:avLst>
              <a:gd name="adj" fmla="val 4444"/>
            </a:avLst>
          </a:prstGeom>
          <a:solidFill>
            <a:srgbClr val="0A1B2E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42" name="Image 6" descr="icons/shiel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526280"/>
            <a:ext cx="457200" cy="45720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280160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8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</a:t>
            </a:r>
            <a:endParaRPr lang="en-US" sz="1400" dirty="0"/>
          </a:p>
        </p:txBody>
      </p:sp>
      <p:sp>
        <p:nvSpPr>
          <p:cNvPr id="44" name="Text 35"/>
          <p:cNvSpPr/>
          <p:nvPr/>
        </p:nvSpPr>
        <p:spPr>
          <a:xfrm>
            <a:off x="1280160" y="489204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banana sentence is written by our code, not the model. </a:t>
            </a:r>
            <a:r>
              <a:rPr lang="en-US" sz="14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only emits a NO_ANSWER token, so the fallback text is never paraphrased. This was the lesson that cost a test in Exercise 1.</a:t>
            </a:r>
            <a:endParaRPr lang="en-US" sz="1400" dirty="0"/>
          </a:p>
        </p:txBody>
      </p:sp>
      <p:sp>
        <p:nvSpPr>
          <p:cNvPr id="45" name="Text 3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QnA Bot on Azure  ·  Agentic AI Academy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put the whole KB in the prompt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784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simplest tool that solves the problem, not the fanciest.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EAF1FE"/>
          </a:solidFill>
          <a:ln w="12700">
            <a:solidFill>
              <a:srgbClr val="C7DBF8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09728" cy="3566160"/>
          </a:xfrm>
          <a:prstGeom prst="rect">
            <a:avLst/>
          </a:prstGeom>
          <a:solidFill>
            <a:srgbClr val="0B6FC4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93852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97510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choice: KB in the prompt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56032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KB is small: 3 Markdown files.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fits entirely in the context window.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deterministic (temperature = 0).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extra infrastructure to maintain.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reason about and debug.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F1ECFD"/>
          </a:solidFill>
          <a:ln w="12700">
            <a:solidFill>
              <a:srgbClr val="DBCFF6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6263640" y="1783080"/>
            <a:ext cx="109728" cy="35661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1" name="Image 1" descr="icons/spark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193852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13448" y="197510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vector search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83680" y="256032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when the KB does NOT fit in context.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moving parts: embeddings, vector DB, chunking.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latency per request.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things that can break.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see it on Day 2 (RAG + Hybrid Search).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B6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principle as Exercise 1: match the tool to the real size of the problem.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QnA Bot on Azure  ·  Agentic AI Academy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deploys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784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 loop: publish an image, never touch the running server by hand.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670048" cy="1828800"/>
          </a:xfrm>
          <a:prstGeom prst="roundRect">
            <a:avLst>
              <a:gd name="adj" fmla="val 3500"/>
            </a:avLst>
          </a:prstGeom>
          <a:solidFill>
            <a:srgbClr val="EAF1FE"/>
          </a:solidFill>
          <a:ln w="1905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5" name="Image 0" descr="icons/code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44" y="2487168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4088" y="2350008"/>
            <a:ext cx="310896" cy="310896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704088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12724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3232" y="3511296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Dockerfile, dependencies with uv.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18688" y="3200400"/>
            <a:ext cx="274320" cy="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3493008" y="2286000"/>
            <a:ext cx="2670048" cy="1828800"/>
          </a:xfrm>
          <a:prstGeom prst="roundRect">
            <a:avLst>
              <a:gd name="adj" fmla="val 3500"/>
            </a:avLst>
          </a:prstGeom>
          <a:solidFill>
            <a:srgbClr val="E7F6EC"/>
          </a:solidFill>
          <a:ln w="19050">
            <a:solidFill>
              <a:srgbClr val="16A34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2" name="Image 1" descr="icons/wrench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2487168"/>
            <a:ext cx="548640" cy="5486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648456" y="2350008"/>
            <a:ext cx="310896" cy="310896"/>
          </a:xfrm>
          <a:prstGeom prst="ellipse">
            <a:avLst/>
          </a:prstGeom>
          <a:solidFill>
            <a:srgbClr val="16A34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0"/>
          <p:cNvSpPr/>
          <p:nvPr/>
        </p:nvSpPr>
        <p:spPr>
          <a:xfrm>
            <a:off x="3648456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584448" y="312724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acr build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657600" y="3511296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linux/amd64 image in the cloud.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163056" y="3200400"/>
            <a:ext cx="274320" cy="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4"/>
          <p:cNvSpPr/>
          <p:nvPr/>
        </p:nvSpPr>
        <p:spPr>
          <a:xfrm>
            <a:off x="6437376" y="2286000"/>
            <a:ext cx="2670048" cy="1828800"/>
          </a:xfrm>
          <a:prstGeom prst="roundRect">
            <a:avLst>
              <a:gd name="adj" fmla="val 3500"/>
            </a:avLst>
          </a:prstGeom>
          <a:solidFill>
            <a:srgbClr val="FDEBE0"/>
          </a:solidFill>
          <a:ln w="1905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9" name="Image 2" descr="icons/registry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2487168"/>
            <a:ext cx="548640" cy="54864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592824" y="2350008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6"/>
          <p:cNvSpPr/>
          <p:nvPr/>
        </p:nvSpPr>
        <p:spPr>
          <a:xfrm>
            <a:off x="6592824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528816" y="312724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Registry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601968" y="3511296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image (acragenticaiacademy).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9107424" y="3200400"/>
            <a:ext cx="274320" cy="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0"/>
          <p:cNvSpPr/>
          <p:nvPr/>
        </p:nvSpPr>
        <p:spPr>
          <a:xfrm>
            <a:off x="9381744" y="2286000"/>
            <a:ext cx="2670048" cy="1828800"/>
          </a:xfrm>
          <a:prstGeom prst="roundRect">
            <a:avLst>
              <a:gd name="adj" fmla="val 3500"/>
            </a:avLst>
          </a:prstGeom>
          <a:solidFill>
            <a:srgbClr val="F1ECFD"/>
          </a:solidFill>
          <a:ln w="1905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6" name="Image 3" descr="icons/rocket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2448" y="2487168"/>
            <a:ext cx="548640" cy="54864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9537192" y="2350008"/>
            <a:ext cx="310896" cy="310896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2"/>
          <p:cNvSpPr/>
          <p:nvPr/>
        </p:nvSpPr>
        <p:spPr>
          <a:xfrm>
            <a:off x="9537192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9473184" y="312724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Apps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9546336" y="3511296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image. Public HTTPS, autoscale.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548640" y="475488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26"/>
          <p:cNvSpPr/>
          <p:nvPr/>
        </p:nvSpPr>
        <p:spPr>
          <a:xfrm>
            <a:off x="822960" y="488289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new version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822960" y="52120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image and run </a:t>
            </a:r>
            <a:r>
              <a:rPr lang="en-US" sz="1400" b="1" dirty="0">
                <a:solidFill>
                  <a:srgbClr val="0A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containerapp update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Container Apps rolls out a fresh replica. The live server is never touched by hand.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QnA Bot on Azure  ·  Agentic AI Academy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and Azure gotchas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784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cost time (and what they asked for in the submission).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09728" cy="2057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19476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tenant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441448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login landed in the Talan tenant, not the Dataroots one. You must run az account set first.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109728" cy="20574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537960" y="19476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 pull permissions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37960" y="2441448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rights to create role assignments, Container Apps fell back to a placeholder image (probe failing, 'Listening on :80'). Fix: admin registry credentials.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109728" cy="20574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31520" y="41879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arm64 vs amd64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4681728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 (Apple Silicon) builds arm64; Container Apps needs amd64. az acr build --platform linux/amd64 builds it in the cloud.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63640" y="402336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6263640" y="4023360"/>
            <a:ext cx="109728" cy="20574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537960" y="41879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Deployment, not model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37960" y="4681728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Azure OpenAI you call the deployment name (gpt-4.1-mini), not the public model id.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QnA Bot on Azure  ·  Agentic AI Academy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AWS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784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files touch Azure APIs. The rest is cloud-neutral.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come from environment variables and the app is a standard Docker image. To move to AWS, swap </a:t>
            </a:r>
            <a:r>
              <a:rPr lang="en-US" sz="1600" b="1" dirty="0">
                <a:solidFill>
                  <a:srgbClr val="0A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kb.py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(Blob → S3) and </a:t>
            </a:r>
            <a:r>
              <a:rPr lang="en-US" sz="1600" b="1" dirty="0">
                <a:solidFill>
                  <a:srgbClr val="0A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llm.py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(Azure OpenAI → Bedrock), and run the same container on ECS. No rewrite.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7804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6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55548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57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78040" y="219456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EAF1FE"/>
          </a:solidFill>
          <a:ln w="12700">
            <a:solidFill>
              <a:srgbClr val="D6E4F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178040" y="21945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418320" y="2578608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9555480" y="219456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FBF3E6"/>
          </a:solidFill>
          <a:ln w="12700">
            <a:solidFill>
              <a:srgbClr val="F7E2BE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9555480" y="21945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4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78040" y="310896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EAF1FE"/>
          </a:solidFill>
          <a:ln w="12700">
            <a:solidFill>
              <a:srgbClr val="D6E4F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7178040" y="3108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418320" y="3493008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9555480" y="310896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FBF3E6"/>
          </a:solidFill>
          <a:ln w="12700">
            <a:solidFill>
              <a:srgbClr val="F7E2BE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9555480" y="3108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4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78040" y="402336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EAF1FE"/>
          </a:solidFill>
          <a:ln w="12700">
            <a:solidFill>
              <a:srgbClr val="D6E4F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7178040" y="4023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418320" y="4407408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9555480" y="402336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FBF3E6"/>
          </a:solidFill>
          <a:ln w="12700">
            <a:solidFill>
              <a:srgbClr val="F7E2BE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9555480" y="4023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4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/ App Runner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178040" y="493776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EAF1FE"/>
          </a:solidFill>
          <a:ln w="12700">
            <a:solidFill>
              <a:srgbClr val="D6E4F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7178040" y="49377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Registry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418320" y="5321808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9555480" y="493776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FBF3E6"/>
          </a:solidFill>
          <a:ln w="12700">
            <a:solidFill>
              <a:srgbClr val="F7E2BE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9555480" y="49377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4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55321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hard constraints of the brief (everything in Azure, data in the EU) are already met: all resources live in West Europe.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QnA Bot on Azure  ·  Agentic AI Academy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6FC4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/sessions/sharp-confident-hamilton/mnt/Agentic AI Academy – Junio 2026/Tala_DataRoot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2743200" cy="1545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228600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tool to the problem, keep the model honest, and don't get locked into one cloud.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13232" y="416052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2B8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 </a:t>
            </a:r>
            <a:r>
              <a:rPr lang="en-US" sz="14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https://qna-bot.yellowsmoke-971f835a.westeurope.azurecontainerapps.io/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2B8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 </a:t>
            </a:r>
            <a:r>
              <a:rPr lang="en-US" sz="1400" dirty="0">
                <a:solidFill>
                  <a:srgbClr val="C7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github.com/Kefalegereta/agentic-ai-academy  ·  exercice2/ folder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13232" y="5669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1085</Words>
  <Application>Microsoft Macintosh PowerPoint</Application>
  <PresentationFormat>Panorámica</PresentationFormat>
  <Paragraphs>172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QnA Bot on Azure</dc:title>
  <dc:subject>PptxGenJS Presentation</dc:subject>
  <dc:creator>Javi Alba</dc:creator>
  <cp:lastModifiedBy>Javier ALBA DE ALBA</cp:lastModifiedBy>
  <cp:revision>2</cp:revision>
  <dcterms:created xsi:type="dcterms:W3CDTF">2026-06-08T15:01:44Z</dcterms:created>
  <dcterms:modified xsi:type="dcterms:W3CDTF">2026-06-08T15:05:30Z</dcterms:modified>
</cp:coreProperties>
</file>